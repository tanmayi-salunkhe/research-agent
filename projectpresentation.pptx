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81" r:id="rId7"/>
    <p:sldId id="279" r:id="rId8"/>
    <p:sldId id="262" r:id="rId9"/>
    <p:sldId id="264" r:id="rId10"/>
    <p:sldId id="277" r:id="rId11"/>
    <p:sldId id="286" r:id="rId12"/>
    <p:sldId id="287" r:id="rId13"/>
    <p:sldId id="280" r:id="rId14"/>
    <p:sldId id="288"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client id="{E27D249D-B118-0810-7731-E1B1C378D9D3}" v="5" dt="2026-06-19T09:10:10.538"/>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3" d="100"/>
          <a:sy n="63" d="100"/>
        </p:scale>
        <p:origin x="78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r>
              <a:rPr lang="en-US" b="1"/>
              <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340064296"/>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sz="2000" dirty="0" err="1" smtClean="0"/>
                        <a:t>Tanmayi</a:t>
                      </a:r>
                      <a:r>
                        <a:rPr lang="en-US" sz="2000" dirty="0" smtClean="0"/>
                        <a:t> Rahul </a:t>
                      </a:r>
                      <a:r>
                        <a:rPr lang="en-US" sz="2000" dirty="0" err="1" smtClean="0"/>
                        <a:t>Salunkhe</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smtClean="0"/>
                        <a:t>salunkhetanmayi328@gmail.com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smtClean="0"/>
                        <a:t>7499397045</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2" y="1518409"/>
            <a:ext cx="10280254" cy="461665"/>
          </a:xfrm>
          <a:prstGeom prst="rect">
            <a:avLst/>
          </a:prstGeom>
          <a:noFill/>
        </p:spPr>
        <p:txBody>
          <a:bodyPr wrap="square" rtlCol="0">
            <a:spAutoFit/>
          </a:bodyPr>
          <a:lstStyle/>
          <a:p>
            <a:r>
              <a:rPr lang="en-US" sz="2400" b="1" dirty="0"/>
              <a:t>Domain of  Project – </a:t>
            </a:r>
            <a:r>
              <a:rPr lang="en-US" sz="2400" b="1" dirty="0" smtClean="0">
                <a:highlight>
                  <a:srgbClr val="FFFF00"/>
                </a:highlight>
              </a:rPr>
              <a:t>[Healthcare/Education/Business/Finance]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523220"/>
          </a:xfrm>
          <a:prstGeom prst="rect">
            <a:avLst/>
          </a:prstGeom>
          <a:noFill/>
        </p:spPr>
        <p:txBody>
          <a:bodyPr wrap="square" rtlCol="0">
            <a:spAutoFit/>
          </a:bodyPr>
          <a:lstStyle/>
          <a:p>
            <a:r>
              <a:rPr lang="en-US" sz="2800" b="1" dirty="0"/>
              <a:t>Project Tile – </a:t>
            </a:r>
            <a:r>
              <a:rPr lang="en-US" sz="2800" b="1" dirty="0" smtClean="0">
                <a:highlight>
                  <a:srgbClr val="FFFF00"/>
                </a:highlight>
              </a:rPr>
              <a:t>[Research Agent]</a:t>
            </a:r>
            <a:endParaRPr lang="en-IN" sz="2800" b="1" dirty="0">
              <a:highlight>
                <a:srgbClr val="FFFF00"/>
              </a:highlight>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0480" y="3556000"/>
            <a:ext cx="1513840" cy="121144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693866"/>
          </a:xfrm>
          <a:prstGeom prst="rect">
            <a:avLst/>
          </a:prstGeom>
          <a:noFill/>
        </p:spPr>
        <p:txBody>
          <a:bodyPr wrap="square" rtlCol="0">
            <a:spAutoFit/>
          </a:bodyPr>
          <a:lstStyle/>
          <a:p>
            <a:pPr fontAlgn="base"/>
            <a:r>
              <a:rPr lang="en-US" sz="1800" b="1" dirty="0"/>
              <a:t>Problem Statement : </a:t>
            </a:r>
            <a:r>
              <a:rPr lang="en-US" sz="1800" b="1" dirty="0" smtClean="0"/>
              <a:t>Research Agent</a:t>
            </a:r>
            <a:endParaRPr lang="en-US" sz="1800" dirty="0"/>
          </a:p>
          <a:p>
            <a:pPr fontAlgn="base"/>
            <a:endParaRPr lang="en-US" b="1" dirty="0"/>
          </a:p>
          <a:p>
            <a:pPr fontAlgn="base"/>
            <a:r>
              <a:rPr lang="en-US" sz="2000" b="1" dirty="0"/>
              <a:t>The Challenge </a:t>
            </a:r>
            <a:endParaRPr lang="en-US" sz="2000" b="1" dirty="0" smtClean="0"/>
          </a:p>
          <a:p>
            <a:pPr fontAlgn="base"/>
            <a:r>
              <a:rPr lang="en-US" sz="2000" dirty="0" smtClean="0"/>
              <a:t>Researchers</a:t>
            </a:r>
            <a:r>
              <a:rPr lang="en-US" sz="2000" dirty="0"/>
              <a:t>, students, and professionals often deal with scattered academic papers, technical articles, and experimental data spread across multiple platforms. Filtering relevant knowledge, summarizing insights, and keeping track of the latest developments is time-consuming and inefficient. The challenge is not just to collect references but to synthesize, analyze, and generate actionable research insights in real time</a:t>
            </a:r>
            <a:r>
              <a:rPr lang="en-US" sz="2000" dirty="0" smtClean="0"/>
              <a:t>.</a:t>
            </a:r>
          </a:p>
          <a:p>
            <a:pPr fontAlgn="base"/>
            <a:endParaRPr lang="en-US" sz="2000" dirty="0"/>
          </a:p>
          <a:p>
            <a:pPr fontAlgn="base"/>
            <a:r>
              <a:rPr lang="en-US" dirty="0" smtClean="0"/>
              <a:t> </a:t>
            </a:r>
            <a:r>
              <a:rPr lang="en-US" sz="2000" b="1" dirty="0"/>
              <a:t>The Objective </a:t>
            </a:r>
            <a:endParaRPr lang="en-US" sz="2000" b="1" dirty="0" smtClean="0"/>
          </a:p>
          <a:p>
            <a:pPr fontAlgn="base"/>
            <a:endParaRPr lang="en-US" dirty="0"/>
          </a:p>
          <a:p>
            <a:pPr fontAlgn="base"/>
            <a:r>
              <a:rPr lang="en-US" sz="1600" dirty="0" smtClean="0"/>
              <a:t>1</a:t>
            </a:r>
            <a:r>
              <a:rPr lang="en-US" sz="1600" dirty="0"/>
              <a:t>. Fuse Academic Sources: Aggregate data from research papers, journals, preprints, and knowledge repositories, then synthesize them into clear, concise literature reviews. </a:t>
            </a:r>
            <a:endParaRPr lang="en-US" sz="1600" dirty="0" smtClean="0"/>
          </a:p>
          <a:p>
            <a:pPr fontAlgn="base"/>
            <a:endParaRPr lang="en-US" sz="1600" dirty="0" smtClean="0"/>
          </a:p>
          <a:p>
            <a:pPr fontAlgn="base"/>
            <a:r>
              <a:rPr lang="en-US" sz="1600" dirty="0" smtClean="0"/>
              <a:t>2</a:t>
            </a:r>
            <a:r>
              <a:rPr lang="en-US" sz="1600" dirty="0"/>
              <a:t>. Enable Multimodal Research Input: Accept user queries, notes, charts, or even PDFs, and convert them into structured insights, references, and summaries</a:t>
            </a:r>
            <a:r>
              <a:rPr lang="en-US" sz="1600" dirty="0" smtClean="0"/>
              <a:t>.</a:t>
            </a:r>
          </a:p>
          <a:p>
            <a:pPr fontAlgn="base"/>
            <a:r>
              <a:rPr lang="en-US" sz="1600" dirty="0" smtClean="0"/>
              <a:t> </a:t>
            </a:r>
          </a:p>
          <a:p>
            <a:pPr fontAlgn="base"/>
            <a:r>
              <a:rPr lang="en-US" sz="1600" dirty="0" smtClean="0"/>
              <a:t>3</a:t>
            </a:r>
            <a:r>
              <a:rPr lang="en-US" sz="1600" dirty="0"/>
              <a:t>. Create a Predictive &amp; Agentic Layer: Highlight emerging trends, detect citation gaps, and predict promising directions for future research in a given domain</a:t>
            </a:r>
            <a:r>
              <a:rPr lang="en-US" sz="1600" dirty="0" smtClean="0"/>
              <a:t>.</a:t>
            </a:r>
          </a:p>
          <a:p>
            <a:pPr fontAlgn="base"/>
            <a:r>
              <a:rPr lang="en-US" sz="1600" dirty="0" smtClean="0"/>
              <a:t> </a:t>
            </a:r>
            <a:endParaRPr lang="en-US" sz="1600"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44600"/>
            <a:ext cx="10607040" cy="5847755"/>
          </a:xfrm>
          <a:prstGeom prst="rect">
            <a:avLst/>
          </a:prstGeom>
          <a:noFill/>
        </p:spPr>
        <p:txBody>
          <a:bodyPr wrap="square" rtlCol="0">
            <a:spAutoFit/>
          </a:bodyPr>
          <a:lstStyle/>
          <a:p>
            <a:r>
              <a:rPr lang="en-US" sz="1800" dirty="0"/>
              <a:t>The proposed solution is to develop an AI-powered Research Agent that automates the process of searching, analyzing, summarizing, and organizing research information from multiple trusted sources. Instead of manually browsing numerous websites and papers, users can enter a research topic or question, and the agent will generate a comprehensive report with key insights, references, and summaries.</a:t>
            </a:r>
          </a:p>
          <a:p>
            <a:r>
              <a:rPr lang="en-US" sz="1800" dirty="0"/>
              <a:t>The Research Agent uses Natural Language Processing (NLP) and Large Language Models </a:t>
            </a:r>
            <a:r>
              <a:rPr lang="en-US" sz="1800" b="1" dirty="0"/>
              <a:t>(LLMs)</a:t>
            </a:r>
            <a:r>
              <a:rPr lang="en-US" sz="1800" dirty="0"/>
              <a:t> to understand user queries. It retrieves relevant information from academic databases, journals, trusted websites, and other online resources using AI-powered search techniques. The collected information is then filtered to remove duplicates and irrelevant content before being summarized into a concise and easy-to-read format</a:t>
            </a:r>
            <a:r>
              <a:rPr lang="en-US" sz="1800" dirty="0" smtClean="0"/>
              <a:t>.</a:t>
            </a:r>
          </a:p>
          <a:p>
            <a:endParaRPr lang="en-US" sz="1800" dirty="0"/>
          </a:p>
          <a:p>
            <a:r>
              <a:rPr lang="en-US" sz="1800" dirty="0"/>
              <a:t>The system also provides:</a:t>
            </a:r>
          </a:p>
          <a:p>
            <a:pPr marL="285750" indent="-285750">
              <a:buFont typeface="Arial" panose="020B0604020202020204" pitchFamily="34" charset="0"/>
              <a:buChar char="•"/>
            </a:pPr>
            <a:r>
              <a:rPr lang="en-US" sz="1800" dirty="0"/>
              <a:t>AI-generated summaries of research papers. </a:t>
            </a:r>
          </a:p>
          <a:p>
            <a:pPr marL="285750" indent="-285750">
              <a:buFont typeface="Arial" panose="020B0604020202020204" pitchFamily="34" charset="0"/>
              <a:buChar char="•"/>
            </a:pPr>
            <a:r>
              <a:rPr lang="en-US" sz="1800" dirty="0"/>
              <a:t>Comparison of different research papers and viewpoints. </a:t>
            </a:r>
          </a:p>
          <a:p>
            <a:pPr marL="285750" indent="-285750">
              <a:buFont typeface="Arial" panose="020B0604020202020204" pitchFamily="34" charset="0"/>
              <a:buChar char="•"/>
            </a:pPr>
            <a:r>
              <a:rPr lang="en-US" sz="1800" dirty="0"/>
              <a:t>Citation and reference generation in standard formats (APA, IEEE, MLA). </a:t>
            </a:r>
          </a:p>
          <a:p>
            <a:pPr marL="285750" indent="-285750">
              <a:buFont typeface="Arial" panose="020B0604020202020204" pitchFamily="34" charset="0"/>
              <a:buChar char="•"/>
            </a:pPr>
            <a:r>
              <a:rPr lang="en-US" sz="1800" dirty="0"/>
              <a:t>Keyword extraction and topic classification. </a:t>
            </a:r>
          </a:p>
          <a:p>
            <a:pPr marL="285750" indent="-285750">
              <a:buFont typeface="Arial" panose="020B0604020202020204" pitchFamily="34" charset="0"/>
              <a:buChar char="•"/>
            </a:pPr>
            <a:r>
              <a:rPr lang="en-US" sz="1800" dirty="0"/>
              <a:t>Interactive </a:t>
            </a:r>
            <a:r>
              <a:rPr lang="en-US" sz="1800" dirty="0" err="1"/>
              <a:t>chatbot</a:t>
            </a:r>
            <a:r>
              <a:rPr lang="en-US" sz="1800" dirty="0"/>
              <a:t> interface for asking follow-up questions. </a:t>
            </a:r>
          </a:p>
          <a:p>
            <a:pPr marL="285750" indent="-285750">
              <a:buFont typeface="Arial" panose="020B0604020202020204" pitchFamily="34" charset="0"/>
              <a:buChar char="•"/>
            </a:pPr>
            <a:r>
              <a:rPr lang="en-US" sz="1800" dirty="0"/>
              <a:t>Downloadable research reports in PDF or Word format. </a:t>
            </a:r>
          </a:p>
          <a:p>
            <a:pPr marL="285750" indent="-285750">
              <a:buFont typeface="Arial" panose="020B0604020202020204" pitchFamily="34" charset="0"/>
              <a:buChar char="•"/>
            </a:pPr>
            <a:r>
              <a:rPr lang="en-US" sz="1800" dirty="0"/>
              <a:t>Search history and saved research projects for future reference.</a:t>
            </a:r>
          </a:p>
          <a:p>
            <a:endParaRPr lang="en-US" sz="1800" dirty="0"/>
          </a:p>
          <a:p>
            <a:pPr fontAlgn="base"/>
            <a:endParaRPr lang="en-US" b="1"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dirty="0"/>
              <a:t>IBM Granite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Cloud </a:t>
            </a:r>
            <a:r>
              <a:rPr lang="en-US" sz="1800"/>
              <a:t>– It provides the infrastructure to build, deploy, and scale the Nutrition Agent efficiently. IBM Cloud enables a </a:t>
            </a:r>
            <a:r>
              <a:rPr lang="en-US" sz="1800" b="1"/>
              <a:t>reliable, secure, and scalable environment</a:t>
            </a:r>
            <a:r>
              <a:rPr lang="en-US" sz="1800"/>
              <a:t> for deploying the Nutrition Agent.</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RAG– </a:t>
            </a:r>
            <a:r>
              <a:rPr lang="en-US" sz="1800"/>
              <a:t>RAG to </a:t>
            </a:r>
            <a:r>
              <a:rPr lang="en-US" sz="1800" b="1"/>
              <a:t>fetch real data first, then generate intelligent answers</a:t>
            </a:r>
            <a:r>
              <a:rPr lang="en-US" sz="1800"/>
              <a:t>, making the Nutrition Agent more trustworthy and effective.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Watsonx.ai - </a:t>
            </a:r>
            <a:r>
              <a:rPr lang="en-US" sz="1800"/>
              <a:t>For model deployment, embeddings, and AI governance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IN" sz="1800" b="1"/>
              <a:t>Vector Database </a:t>
            </a:r>
            <a:r>
              <a:rPr lang="en-IN" sz="1800"/>
              <a:t>(FAISS/Chroma) – For RAG-based nutritional data retrieval</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401205"/>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r>
              <a:rPr lang="en-US" b="1" dirty="0"/>
              <a:t>5) </a:t>
            </a:r>
            <a:r>
              <a:rPr lang="en-US" b="1" dirty="0">
                <a:highlight>
                  <a:srgbClr val="FFFF00"/>
                </a:highlight>
              </a:rPr>
              <a:t>File component - </a:t>
            </a:r>
            <a:r>
              <a:rPr lang="en-US" dirty="0">
                <a:highlight>
                  <a:srgbClr val="FFFF00"/>
                </a:highlight>
              </a:rPr>
              <a:t>Stores and retrieves user data, meal logs, and nutritional datasets for analysis and tracking.</a:t>
            </a:r>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4" name="Picture 3" descr="A screenshot of a computer&#10;&#10;AI-generated content may be incorrect.">
            <a:extLst>
              <a:ext uri="{FF2B5EF4-FFF2-40B4-BE49-F238E27FC236}">
                <a16:creationId xmlns:a16="http://schemas.microsoft.com/office/drawing/2014/main" id="{C597681A-DF93-B190-DD21-CBAEDA4E3CBF}"/>
              </a:ext>
            </a:extLst>
          </p:cNvPr>
          <p:cNvPicPr>
            <a:picLocks noChangeAspect="1"/>
          </p:cNvPicPr>
          <p:nvPr/>
        </p:nvPicPr>
        <p:blipFill>
          <a:blip r:embed="rId3"/>
          <a:stretch>
            <a:fillRect/>
          </a:stretch>
        </p:blipFill>
        <p:spPr>
          <a:xfrm>
            <a:off x="535570" y="1139263"/>
            <a:ext cx="11468100" cy="550545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3" name="Picture 2">
            <a:extLst>
              <a:ext uri="{FF2B5EF4-FFF2-40B4-BE49-F238E27FC236}">
                <a16:creationId xmlns:a16="http://schemas.microsoft.com/office/drawing/2014/main" id="{81932CE2-F219-0CA8-0102-55B8C682B8A2}"/>
              </a:ext>
            </a:extLst>
          </p:cNvPr>
          <p:cNvPicPr>
            <a:picLocks noChangeAspect="1"/>
          </p:cNvPicPr>
          <p:nvPr/>
        </p:nvPicPr>
        <p:blipFill>
          <a:blip r:embed="rId3"/>
          <a:stretch>
            <a:fillRect/>
          </a:stretch>
        </p:blipFill>
        <p:spPr>
          <a:xfrm>
            <a:off x="535570" y="675732"/>
            <a:ext cx="11468100" cy="61817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a:t>Role of Agentic AI in Nutrition Agent</a:t>
            </a:r>
          </a:p>
          <a:p>
            <a:r>
              <a:rPr lang="en-US" b="1"/>
              <a:t>Agentic AI</a:t>
            </a:r>
            <a:r>
              <a:rPr lang="en-US"/>
              <a:t> enables the Nutrition Agent to function as an intelligent, autonomous system rather than a simple chatbot. Using </a:t>
            </a:r>
            <a:r>
              <a:rPr lang="en-US" b="1"/>
              <a:t>IBM watsonx.ai</a:t>
            </a:r>
            <a:r>
              <a:rPr lang="en-US"/>
              <a:t> and </a:t>
            </a:r>
            <a:r>
              <a:rPr lang="en-US" b="1"/>
              <a:t>IBM Granite models</a:t>
            </a:r>
            <a:r>
              <a:rPr lang="en-US"/>
              <a:t>, it coordinates multiple specialized agents to deliver personalized nutrition guidance.</a:t>
            </a:r>
          </a:p>
          <a:p>
            <a:r>
              <a:rPr lang="en-US"/>
              <a:t>Each agent performs a specific role—such as retrieving nutritional data, generating diet plans, providing health advice, and analyzing food logs—while working collaboratively. This </a:t>
            </a:r>
            <a:r>
              <a:rPr lang="en-US" b="1"/>
              <a:t>multi-agent approach</a:t>
            </a:r>
            <a:r>
              <a:rPr lang="en-US"/>
              <a:t> ensures efficient task execution and accurate results.</a:t>
            </a:r>
          </a:p>
          <a:p>
            <a:r>
              <a:rPr lang="en-US"/>
              <a:t>Agentic AI also brings </a:t>
            </a:r>
            <a:r>
              <a:rPr lang="en-US" b="1"/>
              <a:t>context awareness</a:t>
            </a:r>
            <a:r>
              <a:rPr lang="en-US"/>
              <a:t>, understanding user details like age, health conditions, and fitness goals to generate tailored recommendations. It supports </a:t>
            </a:r>
            <a:r>
              <a:rPr lang="en-US" b="1"/>
              <a:t>real-time adaptation</a:t>
            </a:r>
            <a:r>
              <a:rPr lang="en-US"/>
              <a:t>, continuously updating suggestions based on user inputs like daily meals.</a:t>
            </a:r>
          </a:p>
          <a:p>
            <a:r>
              <a:rPr lang="en-US"/>
              <a:t>Additionally, agents communicate with each other, enabling better decision-making and improved outcomes.</a:t>
            </a:r>
          </a:p>
          <a:p>
            <a:r>
              <a:rPr lang="en-US"/>
              <a:t>Overall, Agentic AI makes the system proactive, personalized, and goal-driven, acting like a </a:t>
            </a:r>
            <a:r>
              <a:rPr lang="en-US" b="1"/>
              <a:t>smart digital nutritionist</a:t>
            </a:r>
            <a:r>
              <a:rPr lang="en-US"/>
              <a:t> that helps users maintain a healthy lifestyle.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The proposed Nutrition Agent stands out by combining </a:t>
            </a:r>
            <a:r>
              <a:rPr lang="en-IN" sz="1800" b="1"/>
              <a:t>Agentic AI, RAG, and personalization</a:t>
            </a:r>
            <a:r>
              <a:rPr lang="en-IN" sz="1800"/>
              <a:t> into a single intelligent system.</a:t>
            </a:r>
          </a:p>
          <a:p>
            <a:endParaRPr lang="en-IN" sz="1800"/>
          </a:p>
          <a:p>
            <a:r>
              <a:rPr lang="en-IN" sz="1800" b="1"/>
              <a:t>Multi-Agent Intelligence</a:t>
            </a:r>
            <a:r>
              <a:rPr lang="en-IN" sz="1800"/>
              <a:t> – Instead of a single chatbot, multiple specialized agents collaborate to deliver accurate and context-aware nutrition guidance. </a:t>
            </a:r>
          </a:p>
          <a:p>
            <a:r>
              <a:rPr lang="en-IN" sz="1800" b="1"/>
              <a:t>RAG-Based Accuracy</a:t>
            </a:r>
            <a:r>
              <a:rPr lang="en-IN" sz="1800"/>
              <a:t> – Integrates real-time data retrieval with AI generation, reducing misinformation and ensuring trustworthy recommendations. </a:t>
            </a:r>
          </a:p>
          <a:p>
            <a:r>
              <a:rPr lang="en-IN" sz="1800" b="1"/>
              <a:t>Hyper-Personalization</a:t>
            </a:r>
            <a:r>
              <a:rPr lang="en-IN" sz="1800"/>
              <a:t> – Tailors diet plans based on health conditions, cultural preferences, and fitness goals. </a:t>
            </a:r>
          </a:p>
          <a:p>
            <a:r>
              <a:rPr lang="en-IN" sz="1800" b="1"/>
              <a:t>Real-Time Feedback Loop</a:t>
            </a:r>
            <a:r>
              <a:rPr lang="en-IN" sz="1800"/>
              <a:t> – Continuously adapts recommendations based on daily food logs and user </a:t>
            </a:r>
            <a:r>
              <a:rPr lang="en-IN" sz="1800" err="1"/>
              <a:t>behavior</a:t>
            </a:r>
            <a:r>
              <a:rPr lang="en-IN" sz="1800"/>
              <a:t>. </a:t>
            </a:r>
          </a:p>
          <a:p>
            <a:r>
              <a:rPr lang="en-IN" sz="1800" b="1"/>
              <a:t>Multi-Modal Input</a:t>
            </a:r>
            <a:r>
              <a:rPr lang="en-IN" sz="1800"/>
              <a:t> – Supports text, voice, and image-based meal tracking for better usability. </a:t>
            </a:r>
          </a:p>
          <a:p>
            <a:r>
              <a:rPr lang="en-IN" sz="1800" b="1"/>
              <a:t>Preventive Healthcare Focus</a:t>
            </a:r>
            <a:r>
              <a:rPr lang="en-IN" sz="1800"/>
              <a:t> – Goes beyond diet planning to provide disease-specific nutrition advice. </a:t>
            </a:r>
          </a:p>
          <a:p>
            <a:r>
              <a:rPr lang="en-IN" sz="1800" b="1"/>
              <a:t>Scalable &amp; Enterprise-Ready</a:t>
            </a:r>
            <a:r>
              <a:rPr lang="en-IN" sz="1800"/>
              <a:t> – Built on </a:t>
            </a:r>
            <a:r>
              <a:rPr lang="en-IN" sz="1800" b="1"/>
              <a:t>IBM watsonx.ai</a:t>
            </a:r>
            <a:r>
              <a:rPr lang="en-IN" sz="1800"/>
              <a:t> with </a:t>
            </a:r>
            <a:r>
              <a:rPr lang="en-IN" sz="1800" b="1"/>
              <a:t>IBM Granite models</a:t>
            </a:r>
            <a:r>
              <a:rPr lang="en-IN" sz="1800"/>
              <a:t>, ensuring reliability and governance. </a:t>
            </a:r>
          </a:p>
          <a:p>
            <a:endParaRPr lang="en-IN" sz="1800"/>
          </a:p>
          <a:p>
            <a:r>
              <a:rPr lang="en-IN" sz="1800"/>
              <a:t>This makes the solution a </a:t>
            </a:r>
            <a:r>
              <a:rPr lang="en-IN" sz="1800" b="1"/>
              <a:t>smart, adaptive, and proactive digital nutritionist</a:t>
            </a:r>
            <a:r>
              <a:rPr lang="en-IN" sz="1800"/>
              <a:t>, not just a static diet recommendation tool.</a:t>
            </a:r>
            <a:endParaRPr lang="en-US"/>
          </a:p>
          <a:p>
            <a:endParaRPr lang="en-IN"/>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lang="en-US" sz="1850" b="0" i="0" u="none" strike="noStrike" cap="none" dirty="0" smtClean="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dirty="0" smtClean="0">
                <a:solidFill>
                  <a:srgbClr val="2B3541"/>
                </a:solidFill>
                <a:latin typeface="Times New Roman"/>
                <a:ea typeface="Times New Roman"/>
                <a:cs typeface="Times New Roman"/>
                <a:sym typeface="Times New Roman"/>
              </a:rPr>
              <a:t>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URL </a:t>
            </a:r>
            <a:r>
              <a:rPr lang="en-US" sz="1850" dirty="0" smtClean="0">
                <a:solidFill>
                  <a:srgbClr val="2B3541"/>
                </a:solidFill>
                <a:latin typeface="Times New Roman"/>
                <a:ea typeface="Times New Roman"/>
                <a:cs typeface="Times New Roman"/>
                <a:sym typeface="Times New Roman"/>
              </a:rPr>
              <a:t>– https</a:t>
            </a:r>
            <a:r>
              <a:rPr lang="en-US" sz="1850" dirty="0">
                <a:solidFill>
                  <a:srgbClr val="2B3541"/>
                </a:solidFill>
                <a:latin typeface="Times New Roman"/>
                <a:ea typeface="Times New Roman"/>
                <a:cs typeface="Times New Roman"/>
                <a:sym typeface="Times New Roman"/>
              </a:rPr>
              <a:t>://github.com/Tanmayi-Salunkhe/research-agent</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3598762" y="-585675"/>
            <a:ext cx="5096075" cy="9001763"/>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3389444" y="-96520"/>
            <a:ext cx="5090157" cy="7945123"/>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TotalTime>
  <Words>1129</Words>
  <Application>Microsoft Office PowerPoint</Application>
  <PresentationFormat>Widescreen</PresentationFormat>
  <Paragraphs>115</Paragraphs>
  <Slides>16</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DELL</cp:lastModifiedBy>
  <cp:revision>18</cp:revision>
  <dcterms:created xsi:type="dcterms:W3CDTF">2025-07-08T05:06:56Z</dcterms:created>
  <dcterms:modified xsi:type="dcterms:W3CDTF">2026-07-15T04:08:05Z</dcterms:modified>
</cp:coreProperties>
</file>